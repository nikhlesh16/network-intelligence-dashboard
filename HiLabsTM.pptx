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5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khil nikhil" initials="nn" lastIdx="1" clrIdx="0">
    <p:extLst>
      <p:ext uri="{19B8F6BF-5375-455C-9EA6-DF929625EA0E}">
        <p15:presenceInfo xmlns:p15="http://schemas.microsoft.com/office/powerpoint/2012/main" userId="41e0b19e58b58d1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69EAA"/>
    <a:srgbClr val="0ED8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6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ikhil nikhil" userId="41e0b19e58b58d1b" providerId="LiveId" clId="{BD444CD5-C460-477F-A6D9-025D4C297676}"/>
    <pc:docChg chg="undo custSel addSld delSld modSld">
      <pc:chgData name="nikhil nikhil" userId="41e0b19e58b58d1b" providerId="LiveId" clId="{BD444CD5-C460-477F-A6D9-025D4C297676}" dt="2025-11-07T00:55:04.938" v="582"/>
      <pc:docMkLst>
        <pc:docMk/>
      </pc:docMkLst>
      <pc:sldChg chg="addSp delSp modSp mod modCm">
        <pc:chgData name="nikhil nikhil" userId="41e0b19e58b58d1b" providerId="LiveId" clId="{BD444CD5-C460-477F-A6D9-025D4C297676}" dt="2025-11-06T23:44:11.396" v="475" actId="339"/>
        <pc:sldMkLst>
          <pc:docMk/>
          <pc:sldMk cId="3145010046" sldId="257"/>
        </pc:sldMkLst>
        <pc:spChg chg="add mod">
          <ac:chgData name="nikhil nikhil" userId="41e0b19e58b58d1b" providerId="LiveId" clId="{BD444CD5-C460-477F-A6D9-025D4C297676}" dt="2025-11-06T21:27:41.865" v="35" actId="207"/>
          <ac:spMkLst>
            <pc:docMk/>
            <pc:sldMk cId="3145010046" sldId="257"/>
            <ac:spMk id="2" creationId="{CE782C3E-513B-054B-E57C-2EA0A9215AC8}"/>
          </ac:spMkLst>
        </pc:spChg>
        <pc:spChg chg="add mod">
          <ac:chgData name="nikhil nikhil" userId="41e0b19e58b58d1b" providerId="LiveId" clId="{BD444CD5-C460-477F-A6D9-025D4C297676}" dt="2025-11-06T22:56:31.269" v="217" actId="207"/>
          <ac:spMkLst>
            <pc:docMk/>
            <pc:sldMk cId="3145010046" sldId="257"/>
            <ac:spMk id="3" creationId="{91A2C71C-39C7-DBE5-4C39-65861184C128}"/>
          </ac:spMkLst>
        </pc:spChg>
        <pc:spChg chg="add mod">
          <ac:chgData name="nikhil nikhil" userId="41e0b19e58b58d1b" providerId="LiveId" clId="{BD444CD5-C460-477F-A6D9-025D4C297676}" dt="2025-11-06T22:21:18.271" v="90"/>
          <ac:spMkLst>
            <pc:docMk/>
            <pc:sldMk cId="3145010046" sldId="257"/>
            <ac:spMk id="4" creationId="{C2F78C55-CAB3-411C-28FB-1CD22342D23D}"/>
          </ac:spMkLst>
        </pc:spChg>
        <pc:spChg chg="add del mod">
          <ac:chgData name="nikhil nikhil" userId="41e0b19e58b58d1b" providerId="LiveId" clId="{BD444CD5-C460-477F-A6D9-025D4C297676}" dt="2025-11-06T22:21:20.029" v="92"/>
          <ac:spMkLst>
            <pc:docMk/>
            <pc:sldMk cId="3145010046" sldId="257"/>
            <ac:spMk id="5" creationId="{36C96005-F54C-B30B-6D69-00F58340C66C}"/>
          </ac:spMkLst>
        </pc:spChg>
        <pc:spChg chg="add mod">
          <ac:chgData name="nikhil nikhil" userId="41e0b19e58b58d1b" providerId="LiveId" clId="{BD444CD5-C460-477F-A6D9-025D4C297676}" dt="2025-11-06T22:56:52.337" v="220" actId="14100"/>
          <ac:spMkLst>
            <pc:docMk/>
            <pc:sldMk cId="3145010046" sldId="257"/>
            <ac:spMk id="6" creationId="{6C432C9F-AD4A-F2FA-8E92-DA475926375F}"/>
          </ac:spMkLst>
        </pc:spChg>
        <pc:spChg chg="add del mod">
          <ac:chgData name="nikhil nikhil" userId="41e0b19e58b58d1b" providerId="LiveId" clId="{BD444CD5-C460-477F-A6D9-025D4C297676}" dt="2025-11-06T22:36:17.004" v="160"/>
          <ac:spMkLst>
            <pc:docMk/>
            <pc:sldMk cId="3145010046" sldId="257"/>
            <ac:spMk id="7" creationId="{EE8FFE5E-17C9-AA79-19A9-CC71BE6FE064}"/>
          </ac:spMkLst>
        </pc:spChg>
        <pc:spChg chg="add del mod">
          <ac:chgData name="nikhil nikhil" userId="41e0b19e58b58d1b" providerId="LiveId" clId="{BD444CD5-C460-477F-A6D9-025D4C297676}" dt="2025-11-06T23:44:11.396" v="475" actId="339"/>
          <ac:spMkLst>
            <pc:docMk/>
            <pc:sldMk cId="3145010046" sldId="257"/>
            <ac:spMk id="8" creationId="{D62AF9B6-25FD-535D-00A3-40B672B8A0D5}"/>
          </ac:spMkLst>
        </pc:spChg>
        <pc:spChg chg="add mod">
          <ac:chgData name="nikhil nikhil" userId="41e0b19e58b58d1b" providerId="LiveId" clId="{BD444CD5-C460-477F-A6D9-025D4C297676}" dt="2025-11-06T22:56:44.436" v="218" actId="14100"/>
          <ac:spMkLst>
            <pc:docMk/>
            <pc:sldMk cId="3145010046" sldId="257"/>
            <ac:spMk id="9" creationId="{21F2D57F-1A5A-3733-A712-C505001B035B}"/>
          </ac:spMkLst>
        </pc:spChg>
        <pc:spChg chg="add mod">
          <ac:chgData name="nikhil nikhil" userId="41e0b19e58b58d1b" providerId="LiveId" clId="{BD444CD5-C460-477F-A6D9-025D4C297676}" dt="2025-11-06T23:42:46.886" v="466" actId="693"/>
          <ac:spMkLst>
            <pc:docMk/>
            <pc:sldMk cId="3145010046" sldId="257"/>
            <ac:spMk id="10" creationId="{9A8965D4-9265-8004-6535-C8294CB49E79}"/>
          </ac:spMkLst>
        </pc:spChg>
        <pc:spChg chg="add mod">
          <ac:chgData name="nikhil nikhil" userId="41e0b19e58b58d1b" providerId="LiveId" clId="{BD444CD5-C460-477F-A6D9-025D4C297676}" dt="2025-11-06T22:57:29.078" v="224" actId="14100"/>
          <ac:spMkLst>
            <pc:docMk/>
            <pc:sldMk cId="3145010046" sldId="257"/>
            <ac:spMk id="11" creationId="{4EA4AF59-8BE7-A995-F203-3D0A577A8730}"/>
          </ac:spMkLst>
        </pc:spChg>
      </pc:sldChg>
      <pc:sldChg chg="delSp new mod">
        <pc:chgData name="nikhil nikhil" userId="41e0b19e58b58d1b" providerId="LiveId" clId="{BD444CD5-C460-477F-A6D9-025D4C297676}" dt="2025-11-06T22:57:50.176" v="225" actId="478"/>
        <pc:sldMkLst>
          <pc:docMk/>
          <pc:sldMk cId="4245648444" sldId="258"/>
        </pc:sldMkLst>
        <pc:spChg chg="del">
          <ac:chgData name="nikhil nikhil" userId="41e0b19e58b58d1b" providerId="LiveId" clId="{BD444CD5-C460-477F-A6D9-025D4C297676}" dt="2025-11-06T22:57:50.176" v="225" actId="478"/>
          <ac:spMkLst>
            <pc:docMk/>
            <pc:sldMk cId="4245648444" sldId="258"/>
            <ac:spMk id="2" creationId="{0A0A20BC-9F5D-91AD-7939-6AC872991E3A}"/>
          </ac:spMkLst>
        </pc:spChg>
        <pc:spChg chg="del">
          <ac:chgData name="nikhil nikhil" userId="41e0b19e58b58d1b" providerId="LiveId" clId="{BD444CD5-C460-477F-A6D9-025D4C297676}" dt="2025-11-06T22:57:50.176" v="225" actId="478"/>
          <ac:spMkLst>
            <pc:docMk/>
            <pc:sldMk cId="4245648444" sldId="258"/>
            <ac:spMk id="3" creationId="{46145890-B269-0E64-68A3-E46B8ABBCB8E}"/>
          </ac:spMkLst>
        </pc:spChg>
      </pc:sldChg>
      <pc:sldChg chg="addSp delSp modSp add mod">
        <pc:chgData name="nikhil nikhil" userId="41e0b19e58b58d1b" providerId="LiveId" clId="{BD444CD5-C460-477F-A6D9-025D4C297676}" dt="2025-11-07T00:52:47.484" v="580" actId="478"/>
        <pc:sldMkLst>
          <pc:docMk/>
          <pc:sldMk cId="824810811" sldId="259"/>
        </pc:sldMkLst>
        <pc:spChg chg="mod">
          <ac:chgData name="nikhil nikhil" userId="41e0b19e58b58d1b" providerId="LiveId" clId="{BD444CD5-C460-477F-A6D9-025D4C297676}" dt="2025-11-06T23:02:06.657" v="241" actId="122"/>
          <ac:spMkLst>
            <pc:docMk/>
            <pc:sldMk cId="824810811" sldId="259"/>
            <ac:spMk id="2" creationId="{1443C6EB-0C70-5D0F-B0AB-C95C58D87CD6}"/>
          </ac:spMkLst>
        </pc:spChg>
        <pc:spChg chg="del">
          <ac:chgData name="nikhil nikhil" userId="41e0b19e58b58d1b" providerId="LiveId" clId="{BD444CD5-C460-477F-A6D9-025D4C297676}" dt="2025-11-06T23:01:13.234" v="227" actId="478"/>
          <ac:spMkLst>
            <pc:docMk/>
            <pc:sldMk cId="824810811" sldId="259"/>
            <ac:spMk id="3" creationId="{45863C39-2860-43D3-E579-736BB65A7BEA}"/>
          </ac:spMkLst>
        </pc:spChg>
        <pc:spChg chg="del">
          <ac:chgData name="nikhil nikhil" userId="41e0b19e58b58d1b" providerId="LiveId" clId="{BD444CD5-C460-477F-A6D9-025D4C297676}" dt="2025-11-06T23:01:13.234" v="227" actId="478"/>
          <ac:spMkLst>
            <pc:docMk/>
            <pc:sldMk cId="824810811" sldId="259"/>
            <ac:spMk id="4" creationId="{7D1468A6-1ECE-6CED-4979-5210A6F874C2}"/>
          </ac:spMkLst>
        </pc:spChg>
        <pc:spChg chg="add del mod">
          <ac:chgData name="nikhil nikhil" userId="41e0b19e58b58d1b" providerId="LiveId" clId="{BD444CD5-C460-477F-A6D9-025D4C297676}" dt="2025-11-07T00:52:47.484" v="580" actId="478"/>
          <ac:spMkLst>
            <pc:docMk/>
            <pc:sldMk cId="824810811" sldId="259"/>
            <ac:spMk id="5" creationId="{2F5C26FE-C1B4-CEF4-8A9F-CB8E1D1F2A04}"/>
          </ac:spMkLst>
        </pc:spChg>
        <pc:spChg chg="del">
          <ac:chgData name="nikhil nikhil" userId="41e0b19e58b58d1b" providerId="LiveId" clId="{BD444CD5-C460-477F-A6D9-025D4C297676}" dt="2025-11-06T23:01:16.690" v="228" actId="478"/>
          <ac:spMkLst>
            <pc:docMk/>
            <pc:sldMk cId="824810811" sldId="259"/>
            <ac:spMk id="6" creationId="{B2E0B62B-DB7B-82BE-E200-DBE37F2316A7}"/>
          </ac:spMkLst>
        </pc:spChg>
        <pc:spChg chg="add del mod">
          <ac:chgData name="nikhil nikhil" userId="41e0b19e58b58d1b" providerId="LiveId" clId="{BD444CD5-C460-477F-A6D9-025D4C297676}" dt="2025-11-07T00:52:46.489" v="578" actId="478"/>
          <ac:spMkLst>
            <pc:docMk/>
            <pc:sldMk cId="824810811" sldId="259"/>
            <ac:spMk id="7" creationId="{30BAAE9C-718E-9F9F-7447-00A66340424B}"/>
          </ac:spMkLst>
        </pc:spChg>
        <pc:spChg chg="del">
          <ac:chgData name="nikhil nikhil" userId="41e0b19e58b58d1b" providerId="LiveId" clId="{BD444CD5-C460-477F-A6D9-025D4C297676}" dt="2025-11-06T23:01:13.234" v="227" actId="478"/>
          <ac:spMkLst>
            <pc:docMk/>
            <pc:sldMk cId="824810811" sldId="259"/>
            <ac:spMk id="8" creationId="{E56AF763-FE71-CCE7-6826-98F8EF61542E}"/>
          </ac:spMkLst>
        </pc:spChg>
        <pc:spChg chg="del">
          <ac:chgData name="nikhil nikhil" userId="41e0b19e58b58d1b" providerId="LiveId" clId="{BD444CD5-C460-477F-A6D9-025D4C297676}" dt="2025-11-06T23:01:13.234" v="227" actId="478"/>
          <ac:spMkLst>
            <pc:docMk/>
            <pc:sldMk cId="824810811" sldId="259"/>
            <ac:spMk id="9" creationId="{617ABCF1-C9C9-E9B2-C9D3-6CE25EBED0B4}"/>
          </ac:spMkLst>
        </pc:spChg>
        <pc:spChg chg="del">
          <ac:chgData name="nikhil nikhil" userId="41e0b19e58b58d1b" providerId="LiveId" clId="{BD444CD5-C460-477F-A6D9-025D4C297676}" dt="2025-11-06T23:01:13.234" v="227" actId="478"/>
          <ac:spMkLst>
            <pc:docMk/>
            <pc:sldMk cId="824810811" sldId="259"/>
            <ac:spMk id="10" creationId="{8BAE8D0F-933B-DDE6-0234-411A2FFBD29D}"/>
          </ac:spMkLst>
        </pc:spChg>
        <pc:spChg chg="del">
          <ac:chgData name="nikhil nikhil" userId="41e0b19e58b58d1b" providerId="LiveId" clId="{BD444CD5-C460-477F-A6D9-025D4C297676}" dt="2025-11-06T23:01:13.234" v="227" actId="478"/>
          <ac:spMkLst>
            <pc:docMk/>
            <pc:sldMk cId="824810811" sldId="259"/>
            <ac:spMk id="11" creationId="{903AE4FA-0CBF-ABC2-AC25-4345C95E6A74}"/>
          </ac:spMkLst>
        </pc:spChg>
        <pc:spChg chg="add del mod">
          <ac:chgData name="nikhil nikhil" userId="41e0b19e58b58d1b" providerId="LiveId" clId="{BD444CD5-C460-477F-A6D9-025D4C297676}" dt="2025-11-07T00:52:46.489" v="578" actId="478"/>
          <ac:spMkLst>
            <pc:docMk/>
            <pc:sldMk cId="824810811" sldId="259"/>
            <ac:spMk id="12" creationId="{7259B8D1-4783-008C-727D-76ED3C9CE267}"/>
          </ac:spMkLst>
        </pc:spChg>
        <pc:spChg chg="add mod">
          <ac:chgData name="nikhil nikhil" userId="41e0b19e58b58d1b" providerId="LiveId" clId="{BD444CD5-C460-477F-A6D9-025D4C297676}" dt="2025-11-06T23:33:07.459" v="448" actId="255"/>
          <ac:spMkLst>
            <pc:docMk/>
            <pc:sldMk cId="824810811" sldId="259"/>
            <ac:spMk id="13" creationId="{1C2B5005-FD65-606A-A78B-E5AD65BAE656}"/>
          </ac:spMkLst>
        </pc:spChg>
        <pc:spChg chg="add mod">
          <ac:chgData name="nikhil nikhil" userId="41e0b19e58b58d1b" providerId="LiveId" clId="{BD444CD5-C460-477F-A6D9-025D4C297676}" dt="2025-11-06T23:33:15.406" v="450" actId="115"/>
          <ac:spMkLst>
            <pc:docMk/>
            <pc:sldMk cId="824810811" sldId="259"/>
            <ac:spMk id="14" creationId="{AA8EA950-7E52-2B12-E52A-1D045BB9DCF6}"/>
          </ac:spMkLst>
        </pc:spChg>
        <pc:spChg chg="add mod">
          <ac:chgData name="nikhil nikhil" userId="41e0b19e58b58d1b" providerId="LiveId" clId="{BD444CD5-C460-477F-A6D9-025D4C297676}" dt="2025-11-06T23:33:12.205" v="449" actId="115"/>
          <ac:spMkLst>
            <pc:docMk/>
            <pc:sldMk cId="824810811" sldId="259"/>
            <ac:spMk id="15" creationId="{560E36B6-873C-B887-406E-4A4273967F22}"/>
          </ac:spMkLst>
        </pc:spChg>
        <pc:spChg chg="add del mod">
          <ac:chgData name="nikhil nikhil" userId="41e0b19e58b58d1b" providerId="LiveId" clId="{BD444CD5-C460-477F-A6D9-025D4C297676}" dt="2025-11-07T00:52:46.489" v="578" actId="478"/>
          <ac:spMkLst>
            <pc:docMk/>
            <pc:sldMk cId="824810811" sldId="259"/>
            <ac:spMk id="16" creationId="{8E77CDC2-DA17-AA0C-672D-E2B0FFD2DD05}"/>
          </ac:spMkLst>
        </pc:spChg>
        <pc:spChg chg="add del mod">
          <ac:chgData name="nikhil nikhil" userId="41e0b19e58b58d1b" providerId="LiveId" clId="{BD444CD5-C460-477F-A6D9-025D4C297676}" dt="2025-11-07T00:52:46.968" v="579" actId="478"/>
          <ac:spMkLst>
            <pc:docMk/>
            <pc:sldMk cId="824810811" sldId="259"/>
            <ac:spMk id="17" creationId="{5E892D4B-D1D6-83CC-6DDE-F5A4018F8ABD}"/>
          </ac:spMkLst>
        </pc:spChg>
        <pc:spChg chg="add del mod">
          <ac:chgData name="nikhil nikhil" userId="41e0b19e58b58d1b" providerId="LiveId" clId="{BD444CD5-C460-477F-A6D9-025D4C297676}" dt="2025-11-07T00:52:46.968" v="579" actId="478"/>
          <ac:spMkLst>
            <pc:docMk/>
            <pc:sldMk cId="824810811" sldId="259"/>
            <ac:spMk id="18" creationId="{FD5F97EE-761B-9AA8-E15A-BBCACBF52EF3}"/>
          </ac:spMkLst>
        </pc:spChg>
        <pc:spChg chg="add">
          <ac:chgData name="nikhil nikhil" userId="41e0b19e58b58d1b" providerId="LiveId" clId="{BD444CD5-C460-477F-A6D9-025D4C297676}" dt="2025-11-06T23:30:04.140" v="332"/>
          <ac:spMkLst>
            <pc:docMk/>
            <pc:sldMk cId="824810811" sldId="259"/>
            <ac:spMk id="19" creationId="{C1704255-B967-A4D3-813C-BA0DD0710FFD}"/>
          </ac:spMkLst>
        </pc:spChg>
        <pc:spChg chg="add mod">
          <ac:chgData name="nikhil nikhil" userId="41e0b19e58b58d1b" providerId="LiveId" clId="{BD444CD5-C460-477F-A6D9-025D4C297676}" dt="2025-11-06T23:30:08.750" v="334"/>
          <ac:spMkLst>
            <pc:docMk/>
            <pc:sldMk cId="824810811" sldId="259"/>
            <ac:spMk id="20" creationId="{0647A56B-1783-03F6-36EF-E6303FE017F1}"/>
          </ac:spMkLst>
        </pc:spChg>
        <pc:spChg chg="add del mod">
          <ac:chgData name="nikhil nikhil" userId="41e0b19e58b58d1b" providerId="LiveId" clId="{BD444CD5-C460-477F-A6D9-025D4C297676}" dt="2025-11-06T23:30:34.694" v="343" actId="478"/>
          <ac:spMkLst>
            <pc:docMk/>
            <pc:sldMk cId="824810811" sldId="259"/>
            <ac:spMk id="21" creationId="{09C7B48B-95E5-208F-B66A-6A8BE9740A5E}"/>
          </ac:spMkLst>
        </pc:spChg>
        <pc:spChg chg="add">
          <ac:chgData name="nikhil nikhil" userId="41e0b19e58b58d1b" providerId="LiveId" clId="{BD444CD5-C460-477F-A6D9-025D4C297676}" dt="2025-11-06T23:30:37.391" v="344"/>
          <ac:spMkLst>
            <pc:docMk/>
            <pc:sldMk cId="824810811" sldId="259"/>
            <ac:spMk id="22" creationId="{D1F3E887-6833-1DCB-8CD3-9906401FB3CA}"/>
          </ac:spMkLst>
        </pc:spChg>
        <pc:spChg chg="add mod">
          <ac:chgData name="nikhil nikhil" userId="41e0b19e58b58d1b" providerId="LiveId" clId="{BD444CD5-C460-477F-A6D9-025D4C297676}" dt="2025-11-06T23:30:39.664" v="346"/>
          <ac:spMkLst>
            <pc:docMk/>
            <pc:sldMk cId="824810811" sldId="259"/>
            <ac:spMk id="23" creationId="{7A2073DB-BFCE-8002-1604-34D31BEB346B}"/>
          </ac:spMkLst>
        </pc:spChg>
        <pc:spChg chg="add">
          <ac:chgData name="nikhil nikhil" userId="41e0b19e58b58d1b" providerId="LiveId" clId="{BD444CD5-C460-477F-A6D9-025D4C297676}" dt="2025-11-06T23:30:47.905" v="353"/>
          <ac:spMkLst>
            <pc:docMk/>
            <pc:sldMk cId="824810811" sldId="259"/>
            <ac:spMk id="24" creationId="{8012ACE1-97BA-6FB7-5594-8E80D720AE25}"/>
          </ac:spMkLst>
        </pc:spChg>
        <pc:spChg chg="add del mod">
          <ac:chgData name="nikhil nikhil" userId="41e0b19e58b58d1b" providerId="LiveId" clId="{BD444CD5-C460-477F-A6D9-025D4C297676}" dt="2025-11-07T00:52:46.968" v="579" actId="478"/>
          <ac:spMkLst>
            <pc:docMk/>
            <pc:sldMk cId="824810811" sldId="259"/>
            <ac:spMk id="25" creationId="{A07FBFE2-27A4-2339-A32D-0B6FCABCD3F9}"/>
          </ac:spMkLst>
        </pc:spChg>
        <pc:spChg chg="add del mod">
          <ac:chgData name="nikhil nikhil" userId="41e0b19e58b58d1b" providerId="LiveId" clId="{BD444CD5-C460-477F-A6D9-025D4C297676}" dt="2025-11-07T00:52:46.968" v="579" actId="478"/>
          <ac:spMkLst>
            <pc:docMk/>
            <pc:sldMk cId="824810811" sldId="259"/>
            <ac:spMk id="26" creationId="{2B409696-0C9A-18B8-B809-8578491C4F41}"/>
          </ac:spMkLst>
        </pc:spChg>
        <pc:spChg chg="add del mod">
          <ac:chgData name="nikhil nikhil" userId="41e0b19e58b58d1b" providerId="LiveId" clId="{BD444CD5-C460-477F-A6D9-025D4C297676}" dt="2025-11-07T00:52:46.968" v="579" actId="478"/>
          <ac:spMkLst>
            <pc:docMk/>
            <pc:sldMk cId="824810811" sldId="259"/>
            <ac:spMk id="27" creationId="{C84C3B19-9977-D880-0C7B-C857AE90E620}"/>
          </ac:spMkLst>
        </pc:spChg>
        <pc:spChg chg="add del mod">
          <ac:chgData name="nikhil nikhil" userId="41e0b19e58b58d1b" providerId="LiveId" clId="{BD444CD5-C460-477F-A6D9-025D4C297676}" dt="2025-11-07T00:52:45.804" v="577" actId="11529"/>
          <ac:spMkLst>
            <pc:docMk/>
            <pc:sldMk cId="824810811" sldId="259"/>
            <ac:spMk id="28" creationId="{3450DCBE-17A0-0DF8-E9B7-28C9B3C8EF29}"/>
          </ac:spMkLst>
        </pc:spChg>
        <pc:spChg chg="add mod">
          <ac:chgData name="nikhil nikhil" userId="41e0b19e58b58d1b" providerId="LiveId" clId="{BD444CD5-C460-477F-A6D9-025D4C297676}" dt="2025-11-07T00:52:44.015" v="574" actId="1076"/>
          <ac:spMkLst>
            <pc:docMk/>
            <pc:sldMk cId="824810811" sldId="259"/>
            <ac:spMk id="29" creationId="{68CC24CA-A808-651B-DE33-618A44ED7820}"/>
          </ac:spMkLst>
        </pc:spChg>
        <pc:spChg chg="add mod">
          <ac:chgData name="nikhil nikhil" userId="41e0b19e58b58d1b" providerId="LiveId" clId="{BD444CD5-C460-477F-A6D9-025D4C297676}" dt="2025-11-07T00:52:44.367" v="575" actId="1076"/>
          <ac:spMkLst>
            <pc:docMk/>
            <pc:sldMk cId="824810811" sldId="259"/>
            <ac:spMk id="30" creationId="{BBF689BB-E6DF-FD2B-2946-7E8128A67AD7}"/>
          </ac:spMkLst>
        </pc:spChg>
      </pc:sldChg>
      <pc:sldChg chg="add del">
        <pc:chgData name="nikhil nikhil" userId="41e0b19e58b58d1b" providerId="LiveId" clId="{BD444CD5-C460-477F-A6D9-025D4C297676}" dt="2025-11-06T23:01:22.202" v="232"/>
        <pc:sldMkLst>
          <pc:docMk/>
          <pc:sldMk cId="1575128401" sldId="260"/>
        </pc:sldMkLst>
      </pc:sldChg>
      <pc:sldChg chg="modSp add mod">
        <pc:chgData name="nikhil nikhil" userId="41e0b19e58b58d1b" providerId="LiveId" clId="{BD444CD5-C460-477F-A6D9-025D4C297676}" dt="2025-11-07T00:52:48.061" v="581" actId="20577"/>
        <pc:sldMkLst>
          <pc:docMk/>
          <pc:sldMk cId="4188209171" sldId="260"/>
        </pc:sldMkLst>
        <pc:spChg chg="mod">
          <ac:chgData name="nikhil nikhil" userId="41e0b19e58b58d1b" providerId="LiveId" clId="{BD444CD5-C460-477F-A6D9-025D4C297676}" dt="2025-11-07T00:52:48.061" v="581" actId="20577"/>
          <ac:spMkLst>
            <pc:docMk/>
            <pc:sldMk cId="4188209171" sldId="260"/>
            <ac:spMk id="2" creationId="{14518376-3ABD-D0DC-5F0F-1C172B79C518}"/>
          </ac:spMkLst>
        </pc:spChg>
      </pc:sldChg>
      <pc:sldChg chg="add">
        <pc:chgData name="nikhil nikhil" userId="41e0b19e58b58d1b" providerId="LiveId" clId="{BD444CD5-C460-477F-A6D9-025D4C297676}" dt="2025-11-06T23:01:26.645" v="234"/>
        <pc:sldMkLst>
          <pc:docMk/>
          <pc:sldMk cId="1582876087" sldId="261"/>
        </pc:sldMkLst>
      </pc:sldChg>
      <pc:sldChg chg="add del">
        <pc:chgData name="nikhil nikhil" userId="41e0b19e58b58d1b" providerId="LiveId" clId="{BD444CD5-C460-477F-A6D9-025D4C297676}" dt="2025-11-06T23:01:21.986" v="231"/>
        <pc:sldMkLst>
          <pc:docMk/>
          <pc:sldMk cId="3484523636" sldId="261"/>
        </pc:sldMkLst>
      </pc:sldChg>
      <pc:sldChg chg="add">
        <pc:chgData name="nikhil nikhil" userId="41e0b19e58b58d1b" providerId="LiveId" clId="{BD444CD5-C460-477F-A6D9-025D4C297676}" dt="2025-11-06T23:01:28.208" v="235"/>
        <pc:sldMkLst>
          <pc:docMk/>
          <pc:sldMk cId="1725939765" sldId="262"/>
        </pc:sldMkLst>
      </pc:sldChg>
      <pc:sldChg chg="add">
        <pc:chgData name="nikhil nikhil" userId="41e0b19e58b58d1b" providerId="LiveId" clId="{BD444CD5-C460-477F-A6D9-025D4C297676}" dt="2025-11-06T23:01:28.623" v="236"/>
        <pc:sldMkLst>
          <pc:docMk/>
          <pc:sldMk cId="51217471" sldId="263"/>
        </pc:sldMkLst>
      </pc:sldChg>
      <pc:sldChg chg="add">
        <pc:chgData name="nikhil nikhil" userId="41e0b19e58b58d1b" providerId="LiveId" clId="{BD444CD5-C460-477F-A6D9-025D4C297676}" dt="2025-11-06T23:01:29.088" v="237"/>
        <pc:sldMkLst>
          <pc:docMk/>
          <pc:sldMk cId="2986027656" sldId="264"/>
        </pc:sldMkLst>
      </pc:sldChg>
      <pc:sldChg chg="add">
        <pc:chgData name="nikhil nikhil" userId="41e0b19e58b58d1b" providerId="LiveId" clId="{BD444CD5-C460-477F-A6D9-025D4C297676}" dt="2025-11-07T00:55:04.938" v="582"/>
        <pc:sldMkLst>
          <pc:docMk/>
          <pc:sldMk cId="3177907665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9539219-0BF5-40A8-BF7C-7D8A48B2B27E}" type="datetimeFigureOut">
              <a:rPr lang="en-US" smtClean="0"/>
              <a:t>11/7/2025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24CF94-FCE0-43B1-B205-6CF5B30423E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37159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724CF94-FCE0-43B1-B205-6CF5B30423E6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46631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405604-8422-CF90-91BF-6749911E7B5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6B3C8BD-D286-1783-911E-7E72A85339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235873-0718-16CB-7674-A3AB681754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1B9304-EC96-FF88-0443-A12DCBD3BB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4ECEF3-DDB0-3A31-6786-73DD624779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5516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484F8-A581-7223-EE25-958F3935D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5BCAEA-93C2-21C1-2A2C-B6ACE359BB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C859D8-F64D-5320-EEFD-A3D18DE78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450CFA0-9259-DE0C-8F1E-22ABD20B3D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A445B7-2782-6EF3-018B-DCB38C86FF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7216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A2F0A3-9372-17C1-52AF-6CA474D5E4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631E6F-7273-73C0-6A43-71A7440804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66630E-99EE-D428-5725-B289A52288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2CA060-18F1-9D83-A7DC-C8CF87D25D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2B6A2E-8646-FFA8-E2C8-6603C3CD95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9905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BAB3FD-AAA8-C556-151D-A010D3EF07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44A384-46C3-72C5-8667-0129F3D329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701AC0-DB2D-4D85-FCC7-D36AA9111D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5E5C09-84A8-9E99-53ED-F839BCFC2B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C662BC-B7D8-9492-499E-A2928D782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68610AF-C32B-424A-A999-BF28E88E1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635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7B5AC5-45DF-37E3-82AD-6491BFE95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710332-7742-0272-D2E0-46A4A8EF06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DDBD120-A229-9794-7078-AA49AA2D0E9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D4A843-0DF4-4067-2FDF-7B7B582F93E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2BA2B0-EE3B-73BA-2596-2A65CF644C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DC28FDC-A589-A0B7-1496-A4698F14EA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759D82F-0EE6-C982-3D24-753DE6F06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0294616-2465-36FC-676F-AD008DB6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15168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9765E8-A5BE-06D8-41B5-A20EE7959D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0462790-3D7A-B58D-4AE5-EB8FCB9167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2FC2372-6475-394E-6FD7-9B08046D55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C4D5CD9-C427-EFC4-A1A0-43369DC12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76455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235981A-8D94-FE13-8C9E-1B262DF4E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275AF2-252B-14A7-757C-B98732829D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5947AB-7E76-BF03-76AD-85C8165708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05553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0D14CE-8EFB-2053-F59A-B82225EF34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E357163-4FAC-6549-F24F-BE34C6756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1C7E67C-070F-6B05-8FBD-691B417116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6B0D03C-B9EA-49F6-0FC6-9632C752E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0384BD-63BD-4B19-51B8-832D1C6F8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B50572-97AE-9295-38C0-5DEC677C4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11831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010CDC-B14D-98E3-8E39-5AC7FA305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B0C44E4-6E7A-8AB7-F6A1-A07B53EA2AD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3333A8-111A-985C-36EB-79B7975F5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2F116F1-EB6E-FCDC-5411-50D0F2A9F9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767FEB-3376-6777-90C9-4A97CC372B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A16D7E-0153-B8AE-ED87-09EB7CF7FC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8911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1B228B-D3A9-42D0-00FB-13174279B6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2A600F4-192A-258E-1A85-CF17D71F5F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F196E0-D587-BCD4-6CE8-8A6416CE7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2A7AF8-58D7-383E-484C-6F6CBFAB9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C7DFD1-CB1B-5914-1DE1-BBA1DDD39C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2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649D3E2-A539-F538-5B95-D5B07208C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A0EE8F-FCA6-1E11-8533-CBB40045B4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4B609-940E-1FF4-4CE7-04DB125484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C9C5A-7BB6-3B51-AB36-C498E81E3E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93484-1112-6D7B-7754-2A8C332E6C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0433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A97926-0B49-9B82-F821-D5598F0514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C9568A-1E84-606D-8EFC-CBACDA44E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DEFC24-AA39-1414-25D8-85735CDCA19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1EAC76-4A2B-4526-8E84-E9852141FC49}" type="datetimeFigureOut">
              <a:rPr lang="en-IN" smtClean="0"/>
              <a:t>07-11-2025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628BDF-8323-9C1D-FE81-86B2217B51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FF30A9-0AAF-FB8B-2D51-1401963D0F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812F204-1AD2-4696-BD5C-5BE476B82C3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326812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managedhealthcareexecutive.com/view/five-provider-data-challenges-groups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nikhlesh16.github.io/Network-Intelligence-Dashboard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png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BEF82-7481-1EA8-F180-EDC80CAD972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err="1"/>
              <a:t>HiLabs</a:t>
            </a:r>
            <a:r>
              <a:rPr lang="en-IN" sz="3500" baseline="50000" dirty="0" err="1"/>
              <a:t>TM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E8F835-5432-A503-C922-5CD83071EE3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APM Case Study 2025</a:t>
            </a:r>
          </a:p>
        </p:txBody>
      </p:sp>
    </p:spTree>
    <p:extLst>
      <p:ext uri="{BB962C8B-B14F-4D97-AF65-F5344CB8AC3E}">
        <p14:creationId xmlns:p14="http://schemas.microsoft.com/office/powerpoint/2010/main" val="372819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E782C3E-513B-054B-E57C-2EA0A9215AC8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Problem Statement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1A2C71C-39C7-DBE5-4C39-65861184C128}"/>
              </a:ext>
            </a:extLst>
          </p:cNvPr>
          <p:cNvSpPr txBox="1"/>
          <p:nvPr/>
        </p:nvSpPr>
        <p:spPr>
          <a:xfrm>
            <a:off x="0" y="392416"/>
            <a:ext cx="2154116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Problem Statement: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2F78C55-CAB3-411C-28FB-1CD22342D23D}"/>
              </a:ext>
            </a:extLst>
          </p:cNvPr>
          <p:cNvSpPr txBox="1"/>
          <p:nvPr/>
        </p:nvSpPr>
        <p:spPr>
          <a:xfrm>
            <a:off x="184638" y="754053"/>
            <a:ext cx="1193702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Payers face opaque, </a:t>
            </a:r>
            <a:r>
              <a:rPr lang="en-US" sz="1400" dirty="0" err="1">
                <a:hlinkClick r:id="rId2"/>
              </a:rPr>
              <a:t>inconsitent</a:t>
            </a:r>
            <a:r>
              <a:rPr lang="en-US" sz="1400" dirty="0"/>
              <a:t> pricing and lack a unified view to benchmark provider rates, understand risk-adjusted cost trends, and identify network adequacy gaps. Even with CMS </a:t>
            </a:r>
            <a:r>
              <a:rPr lang="en-US" sz="1400" dirty="0" err="1"/>
              <a:t>TiC</a:t>
            </a:r>
            <a:r>
              <a:rPr lang="en-US" sz="1400" dirty="0"/>
              <a:t>/MRF and Hospital Price Transparency data, the files are massive and heterogeneous, and analysis requires complex normalization and linkage with claims and provider directories—creating integration and operational friction.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432C9F-AD4A-F2FA-8E92-DA475926375F}"/>
              </a:ext>
            </a:extLst>
          </p:cNvPr>
          <p:cNvSpPr txBox="1"/>
          <p:nvPr/>
        </p:nvSpPr>
        <p:spPr>
          <a:xfrm>
            <a:off x="0" y="1688123"/>
            <a:ext cx="3930162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Current Process Shortcomings &amp; Effects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62AF9B6-25FD-535D-00A3-40B672B8A0D5}"/>
              </a:ext>
            </a:extLst>
          </p:cNvPr>
          <p:cNvSpPr txBox="1"/>
          <p:nvPr/>
        </p:nvSpPr>
        <p:spPr>
          <a:xfrm>
            <a:off x="1" y="2066302"/>
            <a:ext cx="5495192" cy="2677656"/>
          </a:xfrm>
          <a:prstGeom prst="rect">
            <a:avLst/>
          </a:prstGeom>
          <a:noFill/>
          <a:ln>
            <a:solidFill>
              <a:schemeClr val="tx1"/>
            </a:solidFill>
            <a:prstDash val="lgDashDot"/>
          </a:ln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Siloed datasets</a:t>
            </a:r>
            <a:r>
              <a:rPr lang="en-US" sz="1400" dirty="0"/>
              <a:t> (MRFs, claims, directories not linked)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Weak negotiation leverage; savings left on the table.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400" b="1" dirty="0"/>
              <a:t>Schema &amp; scale issues in MRFs</a:t>
            </a:r>
            <a:r>
              <a:rPr lang="en-IN" sz="1400" dirty="0"/>
              <a:t> (volume/standardization problems)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 Manual/Excel workflows miss outliers and delay decisions.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No geographic adequacy analytics</a:t>
            </a:r>
            <a:r>
              <a:rPr lang="en-US" sz="1400" dirty="0"/>
              <a:t> (county/specialty view missing)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Hidden access risk and compliance exposure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endParaRPr lang="en-US" sz="14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b="1" dirty="0"/>
              <a:t>Static reporting</a:t>
            </a:r>
            <a:r>
              <a:rPr lang="en-US" sz="1400" dirty="0"/>
              <a:t> (point-in-time extracts, not interactive)</a:t>
            </a:r>
          </a:p>
          <a:p>
            <a:pPr marL="285750" indent="-285750">
              <a:buFont typeface="Wingdings" panose="05000000000000000000" pitchFamily="2" charset="2"/>
              <a:buChar char="v"/>
            </a:pPr>
            <a:r>
              <a:rPr lang="en-US" sz="1400" dirty="0"/>
              <a:t>Slow cycles; decisions based on partial snapshots.</a:t>
            </a:r>
            <a:br>
              <a:rPr lang="en-US" sz="1400" dirty="0"/>
            </a:br>
            <a:endParaRPr lang="en-IN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1F2D57F-1A5A-3733-A712-C505001B035B}"/>
              </a:ext>
            </a:extLst>
          </p:cNvPr>
          <p:cNvSpPr txBox="1"/>
          <p:nvPr/>
        </p:nvSpPr>
        <p:spPr>
          <a:xfrm>
            <a:off x="6096001" y="1688412"/>
            <a:ext cx="3399692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Platform’s Transformative Impact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A8965D4-9265-8004-6535-C8294CB49E79}"/>
              </a:ext>
            </a:extLst>
          </p:cNvPr>
          <p:cNvSpPr txBox="1"/>
          <p:nvPr/>
        </p:nvSpPr>
        <p:spPr>
          <a:xfrm>
            <a:off x="6095999" y="2154114"/>
            <a:ext cx="5911363" cy="73866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r>
              <a:rPr lang="en-IN" sz="1400" dirty="0"/>
              <a:t>Strategic Impact : </a:t>
            </a:r>
            <a:r>
              <a:rPr lang="en-US" sz="1400" dirty="0"/>
              <a:t>Shift from reactive to proactive strategy  executives can identify cost, adequacy, and risk trends before they become financial or regulatory issues.</a:t>
            </a:r>
            <a:endParaRPr lang="en-IN" sz="1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EA4AF59-8BE7-A995-F203-3D0A577A8730}"/>
              </a:ext>
            </a:extLst>
          </p:cNvPr>
          <p:cNvSpPr txBox="1"/>
          <p:nvPr/>
        </p:nvSpPr>
        <p:spPr>
          <a:xfrm>
            <a:off x="6153149" y="4466475"/>
            <a:ext cx="1425820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bg1"/>
                </a:solidFill>
              </a:rPr>
              <a:t>Assumptions</a:t>
            </a:r>
          </a:p>
        </p:txBody>
      </p:sp>
    </p:spTree>
    <p:extLst>
      <p:ext uri="{BB962C8B-B14F-4D97-AF65-F5344CB8AC3E}">
        <p14:creationId xmlns:p14="http://schemas.microsoft.com/office/powerpoint/2010/main" val="31450100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985F82E-52BB-CF18-7068-B040967726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43C6EB-0C70-5D0F-B0AB-C95C58D87CD6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User Personas &amp; Needs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F5C26FE-C1B4-CEF4-8A9F-CB8E1D1F2A04}"/>
              </a:ext>
            </a:extLst>
          </p:cNvPr>
          <p:cNvSpPr/>
          <p:nvPr/>
        </p:nvSpPr>
        <p:spPr>
          <a:xfrm>
            <a:off x="76202" y="585787"/>
            <a:ext cx="3848100" cy="5920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30BAAE9C-718E-9F9F-7447-00A66340424B}"/>
              </a:ext>
            </a:extLst>
          </p:cNvPr>
          <p:cNvSpPr/>
          <p:nvPr/>
        </p:nvSpPr>
        <p:spPr>
          <a:xfrm>
            <a:off x="4171952" y="539627"/>
            <a:ext cx="3848100" cy="5920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259B8D1-4783-008C-727D-76ED3C9CE267}"/>
              </a:ext>
            </a:extLst>
          </p:cNvPr>
          <p:cNvSpPr/>
          <p:nvPr/>
        </p:nvSpPr>
        <p:spPr>
          <a:xfrm>
            <a:off x="8267701" y="562707"/>
            <a:ext cx="3848100" cy="59205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C2B5005-FD65-606A-A78B-E5AD65BAE656}"/>
              </a:ext>
            </a:extLst>
          </p:cNvPr>
          <p:cNvSpPr txBox="1"/>
          <p:nvPr/>
        </p:nvSpPr>
        <p:spPr>
          <a:xfrm>
            <a:off x="617662" y="585787"/>
            <a:ext cx="2765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>
                <a:solidFill>
                  <a:schemeClr val="bg1"/>
                </a:solidFill>
              </a:rPr>
              <a:t>Network Executives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A8EA950-7E52-2B12-E52A-1D045BB9DCF6}"/>
              </a:ext>
            </a:extLst>
          </p:cNvPr>
          <p:cNvSpPr txBox="1"/>
          <p:nvPr/>
        </p:nvSpPr>
        <p:spPr>
          <a:xfrm>
            <a:off x="8876569" y="585787"/>
            <a:ext cx="2765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>
                <a:solidFill>
                  <a:schemeClr val="bg1"/>
                </a:solidFill>
              </a:rPr>
              <a:t>Contracting Team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60E36B6-873C-B887-406E-4A4273967F22}"/>
              </a:ext>
            </a:extLst>
          </p:cNvPr>
          <p:cNvSpPr txBox="1"/>
          <p:nvPr/>
        </p:nvSpPr>
        <p:spPr>
          <a:xfrm>
            <a:off x="4713412" y="539627"/>
            <a:ext cx="276517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b="1" u="sng" dirty="0">
                <a:solidFill>
                  <a:schemeClr val="bg1"/>
                </a:solidFill>
              </a:rPr>
              <a:t>Network Manager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E77CDC2-DA17-AA0C-672D-E2B0FFD2DD05}"/>
              </a:ext>
            </a:extLst>
          </p:cNvPr>
          <p:cNvSpPr/>
          <p:nvPr/>
        </p:nvSpPr>
        <p:spPr>
          <a:xfrm>
            <a:off x="307731" y="1033699"/>
            <a:ext cx="3402623" cy="9144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i="1" dirty="0"/>
              <a:t>“Are we paying more than others in the market, &amp; how can we reduce the cost?”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E892D4B-D1D6-83CC-6DDE-F5A4018F8ABD}"/>
              </a:ext>
            </a:extLst>
          </p:cNvPr>
          <p:cNvSpPr/>
          <p:nvPr/>
        </p:nvSpPr>
        <p:spPr>
          <a:xfrm>
            <a:off x="4394689" y="1055076"/>
            <a:ext cx="3402623" cy="9144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“Which areas or specialties don’t have enough doctors or are costing us too much?”</a:t>
            </a:r>
            <a:endParaRPr lang="en-IN" sz="1600" i="1" dirty="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D5F97EE-761B-9AA8-E15A-BBCACBF52EF3}"/>
              </a:ext>
            </a:extLst>
          </p:cNvPr>
          <p:cNvSpPr/>
          <p:nvPr/>
        </p:nvSpPr>
        <p:spPr>
          <a:xfrm>
            <a:off x="8481646" y="1055076"/>
            <a:ext cx="3402623" cy="914402"/>
          </a:xfrm>
          <a:prstGeom prst="rect">
            <a:avLst/>
          </a:prstGeom>
        </p:spPr>
        <p:style>
          <a:lnRef idx="2">
            <a:schemeClr val="accent3">
              <a:shade val="15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i="1" dirty="0"/>
              <a:t>“What are the fair market rates I should use to negotiate better contracts?”</a:t>
            </a:r>
            <a:endParaRPr lang="en-US" sz="1600" dirty="0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07FBFE2-27A4-2339-A32D-0B6FCABCD3F9}"/>
              </a:ext>
            </a:extLst>
          </p:cNvPr>
          <p:cNvSpPr/>
          <p:nvPr/>
        </p:nvSpPr>
        <p:spPr>
          <a:xfrm>
            <a:off x="329714" y="2014106"/>
            <a:ext cx="3341077" cy="992863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 </a:t>
            </a:r>
            <a:r>
              <a:rPr lang="en-US" sz="1600" b="1" dirty="0"/>
              <a:t>clear, data-backed view</a:t>
            </a:r>
            <a:r>
              <a:rPr lang="en-US" sz="1600" dirty="0"/>
              <a:t> of market rates, risks, and gaps easy to share and act on.</a:t>
            </a:r>
            <a:endParaRPr lang="en-IN" sz="1600" dirty="0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2B409696-0C9A-18B8-B809-8578491C4F41}"/>
              </a:ext>
            </a:extLst>
          </p:cNvPr>
          <p:cNvSpPr/>
          <p:nvPr/>
        </p:nvSpPr>
        <p:spPr>
          <a:xfrm>
            <a:off x="8543192" y="2045920"/>
            <a:ext cx="3341077" cy="96105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 </a:t>
            </a:r>
            <a:r>
              <a:rPr lang="en-US" sz="1600" b="1" dirty="0"/>
              <a:t>smart benchmarking engine</a:t>
            </a:r>
            <a:r>
              <a:rPr lang="en-US" sz="1600" dirty="0"/>
              <a:t> that simplifies data and strengthens negotiations.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C84C3B19-9977-D880-0C7B-C857AE90E620}"/>
              </a:ext>
            </a:extLst>
          </p:cNvPr>
          <p:cNvSpPr/>
          <p:nvPr/>
        </p:nvSpPr>
        <p:spPr>
          <a:xfrm>
            <a:off x="4425462" y="2034380"/>
            <a:ext cx="3341077" cy="972590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A </a:t>
            </a:r>
            <a:r>
              <a:rPr lang="en-US" sz="1600" b="1" dirty="0"/>
              <a:t>local insights tool</a:t>
            </a:r>
            <a:r>
              <a:rPr lang="en-US" sz="1600" dirty="0"/>
              <a:t> showing benchmarks, gaps, and savings opportunities.</a:t>
            </a:r>
          </a:p>
        </p:txBody>
      </p:sp>
    </p:spTree>
    <p:extLst>
      <p:ext uri="{BB962C8B-B14F-4D97-AF65-F5344CB8AC3E}">
        <p14:creationId xmlns:p14="http://schemas.microsoft.com/office/powerpoint/2010/main" val="8248108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9AA10F-AD7A-A37C-7CF3-EB44A07BF3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518376-3ABD-D0DC-5F0F-1C172B79C518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 smtClean="0">
                <a:solidFill>
                  <a:schemeClr val="bg1"/>
                </a:solidFill>
              </a:rPr>
              <a:t>Solution Overview</a:t>
            </a:r>
            <a:endParaRPr lang="en-IN" sz="2000" b="1" dirty="0">
              <a:solidFill>
                <a:schemeClr val="bg1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81480" y="463485"/>
            <a:ext cx="2308634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Platform - Easy search</a:t>
            </a:r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0" y="1606131"/>
            <a:ext cx="12192000" cy="5251869"/>
          </a:xfrm>
          <a:prstGeom prst="rect">
            <a:avLst/>
          </a:prstGeom>
          <a:ln w="28575"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en-US" dirty="0"/>
              <a:t> 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178050" y="867467"/>
            <a:ext cx="12013950" cy="738664"/>
          </a:xfrm>
          <a:prstGeom prst="rect">
            <a:avLst/>
          </a:prstGeom>
          <a:noFill/>
          <a:ln>
            <a:solidFill>
              <a:schemeClr val="tx1"/>
            </a:solidFill>
            <a:prstDash val="dashDot"/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  <a:hlinkClick r:id="rId3"/>
              </a:rPr>
              <a:t>Easy Search</a:t>
            </a:r>
            <a:r>
              <a:rPr lang="en-US" sz="1400" b="1" dirty="0" smtClean="0">
                <a:solidFill>
                  <a:schemeClr val="accent1">
                    <a:lumMod val="60000"/>
                    <a:lumOff val="40000"/>
                  </a:schemeClr>
                </a:solidFill>
              </a:rPr>
              <a:t> </a:t>
            </a:r>
            <a:r>
              <a:rPr lang="en-US" sz="1400" b="1" dirty="0" smtClean="0"/>
              <a:t>Transparency </a:t>
            </a:r>
            <a:r>
              <a:rPr lang="en-US" sz="1400" b="1" dirty="0"/>
              <a:t>in Coverage (</a:t>
            </a:r>
            <a:r>
              <a:rPr lang="en-US" sz="1400" b="1" dirty="0" err="1"/>
              <a:t>TiC</a:t>
            </a:r>
            <a:r>
              <a:rPr lang="en-US" sz="1400" b="1" dirty="0"/>
              <a:t>)</a:t>
            </a:r>
            <a:r>
              <a:rPr lang="en-US" sz="1400" dirty="0"/>
              <a:t>, </a:t>
            </a:r>
            <a:r>
              <a:rPr lang="en-US" sz="1400" b="1" dirty="0"/>
              <a:t>Machine-Readable Files (MRF)</a:t>
            </a:r>
            <a:r>
              <a:rPr lang="en-US" sz="1400" dirty="0"/>
              <a:t>, </a:t>
            </a:r>
            <a:r>
              <a:rPr lang="en-US" sz="1400" b="1" dirty="0"/>
              <a:t>claims</a:t>
            </a:r>
            <a:r>
              <a:rPr lang="en-US" sz="1400" dirty="0"/>
              <a:t>, and </a:t>
            </a:r>
            <a:r>
              <a:rPr lang="en-US" sz="1400" b="1" dirty="0"/>
              <a:t>provider directories</a:t>
            </a:r>
            <a:r>
              <a:rPr lang="en-US" sz="1400" dirty="0"/>
              <a:t> into a single analytics ecosystem. It delivers real-time </a:t>
            </a:r>
            <a:r>
              <a:rPr lang="en-US" sz="1400" b="1" dirty="0"/>
              <a:t>rate benchmarking</a:t>
            </a:r>
            <a:r>
              <a:rPr lang="en-US" sz="1400" dirty="0"/>
              <a:t>, </a:t>
            </a:r>
            <a:r>
              <a:rPr lang="en-US" sz="1400" b="1" dirty="0"/>
              <a:t>risk scoring</a:t>
            </a:r>
            <a:r>
              <a:rPr lang="en-US" sz="1400" dirty="0"/>
              <a:t>, and </a:t>
            </a:r>
            <a:r>
              <a:rPr lang="en-US" sz="1400" b="1" dirty="0"/>
              <a:t>network adequacy insights</a:t>
            </a:r>
            <a:r>
              <a:rPr lang="en-US" sz="1400" dirty="0"/>
              <a:t> to reduce costs, enhance efficiency, strengthen coverage, and ensure full </a:t>
            </a:r>
            <a:r>
              <a:rPr lang="en-US" sz="1400" b="1" dirty="0"/>
              <a:t>CMS </a:t>
            </a:r>
            <a:r>
              <a:rPr lang="en-US" sz="1400" b="1" dirty="0" smtClean="0"/>
              <a:t>compliance</a:t>
            </a:r>
            <a:r>
              <a:rPr lang="en-US" sz="1400" dirty="0" smtClean="0"/>
              <a:t>-empowering </a:t>
            </a:r>
            <a:r>
              <a:rPr lang="en-US" sz="1400" dirty="0"/>
              <a:t>payers to make faster, data-driven, and transparent decisions.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6096000" y="1606131"/>
            <a:ext cx="10563" cy="5251869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Straight Connector 11"/>
          <p:cNvCxnSpPr/>
          <p:nvPr/>
        </p:nvCxnSpPr>
        <p:spPr>
          <a:xfrm flipH="1">
            <a:off x="10563" y="3983524"/>
            <a:ext cx="12192000" cy="70166"/>
          </a:xfrm>
          <a:prstGeom prst="line">
            <a:avLst/>
          </a:prstGeom>
          <a:ln w="57150">
            <a:solidFill>
              <a:srgbClr val="0070C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5" name="Picture 14"/>
          <p:cNvPicPr>
            <a:picLocks noChangeAspect="1"/>
          </p:cNvPicPr>
          <p:nvPr/>
        </p:nvPicPr>
        <p:blipFill rotWithShape="1">
          <a:blip r:embed="rId4"/>
          <a:srcRect l="16402" t="11908" r="17224" b="10961"/>
          <a:stretch/>
        </p:blipFill>
        <p:spPr>
          <a:xfrm>
            <a:off x="246630" y="1699180"/>
            <a:ext cx="2657820" cy="1737337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17" name="TextBox 16"/>
          <p:cNvSpPr txBox="1"/>
          <p:nvPr/>
        </p:nvSpPr>
        <p:spPr>
          <a:xfrm>
            <a:off x="246630" y="3675747"/>
            <a:ext cx="2657820" cy="3077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Network Executive Dashboard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983769" y="1640665"/>
            <a:ext cx="3032911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Executive KPI Summary Cards </a:t>
            </a:r>
            <a:r>
              <a:rPr lang="en-US" sz="1200" dirty="0" smtClean="0"/>
              <a:t>: Average </a:t>
            </a:r>
            <a:r>
              <a:rPr lang="en-US" sz="1200" dirty="0"/>
              <a:t>Rate vs Market, PMPM </a:t>
            </a:r>
            <a:r>
              <a:rPr lang="en-US" sz="1200" dirty="0" smtClean="0"/>
              <a:t>Cost, etc.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 smtClean="0"/>
              <a:t>Global Filters Panel :</a:t>
            </a:r>
          </a:p>
          <a:p>
            <a:r>
              <a:rPr lang="en-US" sz="1200" dirty="0" smtClean="0"/>
              <a:t>     analytics by Region, Specialty, Plan Type</a:t>
            </a:r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Cost Variance </a:t>
            </a:r>
            <a:r>
              <a:rPr lang="en-US" sz="1200" b="1" dirty="0" err="1" smtClean="0"/>
              <a:t>Heatmap</a:t>
            </a:r>
            <a:r>
              <a:rPr lang="en-US" sz="1200" b="1" dirty="0" smtClean="0"/>
              <a:t> :</a:t>
            </a:r>
            <a:r>
              <a:rPr lang="en-US" sz="1200" dirty="0" smtClean="0"/>
              <a:t> identify </a:t>
            </a:r>
            <a:r>
              <a:rPr lang="en-US" sz="1200" dirty="0"/>
              <a:t>regional overspend and target negotiation zones</a:t>
            </a:r>
            <a:r>
              <a:rPr lang="en-US" sz="12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Rate Comparison by Specialty (Main </a:t>
            </a:r>
            <a:r>
              <a:rPr lang="en-US" sz="1200" b="1" dirty="0"/>
              <a:t>Histogram</a:t>
            </a:r>
            <a:r>
              <a:rPr lang="en-US" sz="1200" dirty="0" smtClean="0"/>
              <a:t>): provide good intuition</a:t>
            </a:r>
            <a:endParaRPr lang="en-US" sz="1200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 rotWithShape="1">
          <a:blip r:embed="rId5"/>
          <a:srcRect l="8475" t="6866" r="10594" b="17196"/>
          <a:stretch/>
        </p:blipFill>
        <p:spPr>
          <a:xfrm>
            <a:off x="6185991" y="1699180"/>
            <a:ext cx="3112122" cy="165137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0" name="TextBox 19"/>
          <p:cNvSpPr txBox="1"/>
          <p:nvPr/>
        </p:nvSpPr>
        <p:spPr>
          <a:xfrm>
            <a:off x="6342628" y="3646707"/>
            <a:ext cx="2865601" cy="3077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Network Manager Dashboard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298113" y="1606131"/>
            <a:ext cx="2893887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Key Operational </a:t>
            </a:r>
            <a:r>
              <a:rPr lang="en-US" sz="1200" b="1" dirty="0" smtClean="0"/>
              <a:t>Cards </a:t>
            </a:r>
            <a:r>
              <a:rPr lang="en-US" sz="1200" dirty="0" smtClean="0"/>
              <a:t>: Contracts </a:t>
            </a:r>
            <a:r>
              <a:rPr lang="en-US" sz="1200" dirty="0"/>
              <a:t>Near Renewal, Regions </a:t>
            </a:r>
            <a:r>
              <a:rPr lang="en-US" sz="1200" dirty="0" smtClean="0"/>
              <a:t>Below adequacy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Coverage Gap </a:t>
            </a:r>
            <a:r>
              <a:rPr lang="en-US" sz="1200" b="1" dirty="0" smtClean="0"/>
              <a:t>Alert : </a:t>
            </a:r>
            <a:r>
              <a:rPr lang="en-US" sz="1200" dirty="0"/>
              <a:t>real-time adequacy gap </a:t>
            </a:r>
            <a:r>
              <a:rPr lang="en-US" sz="1200" dirty="0" smtClean="0"/>
              <a:t>notifications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Dynamic Adequacy </a:t>
            </a:r>
            <a:r>
              <a:rPr lang="en-US" sz="1200" b="1" dirty="0" err="1" smtClean="0"/>
              <a:t>Heatmap</a:t>
            </a:r>
            <a:r>
              <a:rPr lang="en-US" sz="1200" b="1" dirty="0" smtClean="0"/>
              <a:t> : </a:t>
            </a:r>
            <a:r>
              <a:rPr lang="en-US" sz="1200" dirty="0"/>
              <a:t>help managers pinpoint weak zones quickly</a:t>
            </a:r>
            <a:r>
              <a:rPr lang="en-US" sz="12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Executive Sync &amp; Reporting </a:t>
            </a:r>
            <a:r>
              <a:rPr lang="en-US" sz="1200" b="1" dirty="0" smtClean="0"/>
              <a:t>Tools : </a:t>
            </a:r>
            <a:r>
              <a:rPr lang="en-US" sz="1200" dirty="0"/>
              <a:t>alignment between strategic </a:t>
            </a:r>
            <a:r>
              <a:rPr lang="en-US" sz="1200" dirty="0" smtClean="0"/>
              <a:t>(executive</a:t>
            </a:r>
            <a:r>
              <a:rPr lang="en-US" sz="1200" dirty="0"/>
              <a:t>) and operational (manager) views.</a:t>
            </a:r>
            <a:r>
              <a:rPr lang="en-US" sz="1200" b="1" dirty="0" smtClean="0"/>
              <a:t/>
            </a:r>
            <a:br>
              <a:rPr lang="en-US" sz="1200" b="1" dirty="0" smtClean="0"/>
            </a:br>
            <a:endParaRPr lang="en-US" sz="1200" b="1" dirty="0"/>
          </a:p>
        </p:txBody>
      </p:sp>
      <p:pic>
        <p:nvPicPr>
          <p:cNvPr id="23" name="Picture 22"/>
          <p:cNvPicPr>
            <a:picLocks noChangeAspect="1"/>
          </p:cNvPicPr>
          <p:nvPr/>
        </p:nvPicPr>
        <p:blipFill rotWithShape="1">
          <a:blip r:embed="rId6"/>
          <a:srcRect l="10705" t="11771" r="13788" b="11306"/>
          <a:stretch/>
        </p:blipFill>
        <p:spPr>
          <a:xfrm>
            <a:off x="178050" y="4209831"/>
            <a:ext cx="3304515" cy="1893669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292929"/>
            </a:solidFill>
            <a:miter lim="800000"/>
          </a:ln>
          <a:effectLst>
            <a:reflection blurRad="12700" stA="28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>
            <a:bevelT h="38100"/>
            <a:contourClr>
              <a:srgbClr val="C0C0C0"/>
            </a:contourClr>
          </a:sp3d>
        </p:spPr>
      </p:pic>
      <p:sp>
        <p:nvSpPr>
          <p:cNvPr id="24" name="TextBox 23"/>
          <p:cNvSpPr txBox="1"/>
          <p:nvPr/>
        </p:nvSpPr>
        <p:spPr>
          <a:xfrm>
            <a:off x="349880" y="6431418"/>
            <a:ext cx="2959602" cy="307777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sz="1400" b="1" dirty="0" smtClean="0">
                <a:solidFill>
                  <a:schemeClr val="bg1"/>
                </a:solidFill>
              </a:rPr>
              <a:t>Contracting Team Dashboard</a:t>
            </a:r>
            <a:endParaRPr lang="en-US" sz="1400" b="1" dirty="0">
              <a:solidFill>
                <a:schemeClr val="bg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569976" y="4018607"/>
            <a:ext cx="2536587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Contracting Intelligence </a:t>
            </a:r>
            <a:r>
              <a:rPr lang="en-US" sz="1200" b="1" dirty="0" smtClean="0"/>
              <a:t>Overview:</a:t>
            </a:r>
          </a:p>
          <a:p>
            <a:r>
              <a:rPr lang="en-US" sz="1200" b="1" dirty="0" smtClean="0"/>
              <a:t>      </a:t>
            </a:r>
            <a:r>
              <a:rPr lang="en-US" sz="1200" dirty="0"/>
              <a:t>Displays Contracts </a:t>
            </a:r>
            <a:r>
              <a:rPr lang="en-US" sz="1200" dirty="0" smtClean="0"/>
              <a:t>up for renewal, </a:t>
            </a:r>
            <a:br>
              <a:rPr lang="en-US" sz="1200" dirty="0" smtClean="0"/>
            </a:br>
            <a:r>
              <a:rPr lang="en-US" sz="1200" dirty="0" smtClean="0"/>
              <a:t>      average negotiation leverage.</a:t>
            </a:r>
          </a:p>
          <a:p>
            <a:endParaRPr lang="en-US" sz="12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Real-Time </a:t>
            </a:r>
            <a:r>
              <a:rPr lang="en-US" sz="1200" b="1" dirty="0" smtClean="0"/>
              <a:t>Sync &amp; aligned flow:</a:t>
            </a:r>
          </a:p>
          <a:p>
            <a:r>
              <a:rPr lang="en-US" sz="1200" b="1" dirty="0"/>
              <a:t> </a:t>
            </a:r>
            <a:r>
              <a:rPr lang="en-US" sz="1200" b="1" dirty="0" smtClean="0"/>
              <a:t>    </a:t>
            </a:r>
            <a:r>
              <a:rPr lang="en-US" sz="1200" dirty="0"/>
              <a:t>New Assignments from </a:t>
            </a:r>
            <a:r>
              <a:rPr lang="en-US" sz="1200" dirty="0" smtClean="0"/>
              <a:t>Network</a:t>
            </a:r>
            <a:br>
              <a:rPr lang="en-US" sz="1200" dirty="0" smtClean="0"/>
            </a:br>
            <a:r>
              <a:rPr lang="en-US" sz="1200" dirty="0" smtClean="0"/>
              <a:t>     manager</a:t>
            </a:r>
          </a:p>
          <a:p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Rate Benchmarking </a:t>
            </a:r>
            <a:r>
              <a:rPr lang="en-US" sz="1200" b="1" dirty="0" smtClean="0"/>
              <a:t>Table </a:t>
            </a:r>
            <a:r>
              <a:rPr lang="en-US" sz="1200" b="1" dirty="0"/>
              <a:t>: </a:t>
            </a:r>
            <a:r>
              <a:rPr lang="en-US" sz="1200" dirty="0"/>
              <a:t>multi-level contract benchmarking by provider, specialty, and CPT code</a:t>
            </a:r>
            <a:r>
              <a:rPr lang="en-US" sz="1200" dirty="0" smtClean="0"/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b="1" dirty="0"/>
              <a:t>Export &amp; Reporting </a:t>
            </a:r>
            <a:r>
              <a:rPr lang="en-US" sz="1200" b="1" dirty="0" smtClean="0"/>
              <a:t>Tools : </a:t>
            </a:r>
            <a:r>
              <a:rPr lang="en-US" sz="1200" dirty="0"/>
              <a:t>Negotiation Packet (PPT), Rate Analysis (Excel), and PDF Report</a:t>
            </a:r>
          </a:p>
        </p:txBody>
      </p:sp>
    </p:spTree>
    <p:extLst>
      <p:ext uri="{BB962C8B-B14F-4D97-AF65-F5344CB8AC3E}">
        <p14:creationId xmlns:p14="http://schemas.microsoft.com/office/powerpoint/2010/main" val="41882091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511B10-ECF5-A3B3-AD09-62CFC5806A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CB4CE2E1-7FAC-1FD0-9CE2-E097D3D31163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Problem Statement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87531970"/>
              </p:ext>
            </p:extLst>
          </p:nvPr>
        </p:nvGraphicFramePr>
        <p:xfrm>
          <a:off x="5310681" y="859977"/>
          <a:ext cx="6881319" cy="5830532"/>
        </p:xfrm>
        <a:graphic>
          <a:graphicData uri="http://schemas.openxmlformats.org/drawingml/2006/table">
            <a:tbl>
              <a:tblPr/>
              <a:tblGrid>
                <a:gridCol w="2293773">
                  <a:extLst>
                    <a:ext uri="{9D8B030D-6E8A-4147-A177-3AD203B41FA5}">
                      <a16:colId xmlns:a16="http://schemas.microsoft.com/office/drawing/2014/main" val="2467151117"/>
                    </a:ext>
                  </a:extLst>
                </a:gridCol>
                <a:gridCol w="2293773">
                  <a:extLst>
                    <a:ext uri="{9D8B030D-6E8A-4147-A177-3AD203B41FA5}">
                      <a16:colId xmlns:a16="http://schemas.microsoft.com/office/drawing/2014/main" val="4255057883"/>
                    </a:ext>
                  </a:extLst>
                </a:gridCol>
                <a:gridCol w="2293773">
                  <a:extLst>
                    <a:ext uri="{9D8B030D-6E8A-4147-A177-3AD203B41FA5}">
                      <a16:colId xmlns:a16="http://schemas.microsoft.com/office/drawing/2014/main" val="821776332"/>
                    </a:ext>
                  </a:extLst>
                </a:gridCol>
              </a:tblGrid>
              <a:tr h="314742"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Stage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Purpose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1" dirty="0">
                          <a:solidFill>
                            <a:schemeClr val="bg1"/>
                          </a:solidFill>
                        </a:rPr>
                        <a:t>Core Tech/Tool Examples</a:t>
                      </a:r>
                      <a:endParaRPr lang="en-US" sz="1400" dirty="0">
                        <a:solidFill>
                          <a:schemeClr val="bg1"/>
                        </a:solidFill>
                      </a:endParaRPr>
                    </a:p>
                  </a:txBody>
                  <a:tcPr marL="70183" marR="70183" marT="35091" marB="3509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4086096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 dirty="0"/>
                        <a:t>1. Ingestion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Fetch all source files &amp; APIs automatically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Airflow, AWS Lambda, Google Cloud Functions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12967690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 dirty="0"/>
                        <a:t>2. Parsing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Flatten massive JSON/CSV data efficiently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Spark, Dask, Snowflake External Tables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91458375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 dirty="0"/>
                        <a:t>3. Cleaning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Remove bad data, duplicates, wrong formats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Pandera, Great Expectations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8904304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 dirty="0"/>
                        <a:t>4. Identity Graph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Create unique provider mapping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Neo4j, NetworkX, SQL Graph Tables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7330980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 dirty="0"/>
                        <a:t>5. Normalization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Make data consistent across payers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Python ETL, dbt, Pandas pipelines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74063357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/>
                        <a:t>6. Integration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Join datasets for benchmarking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Snowflake SQL, BigQuery, Delta Lake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30002691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 dirty="0"/>
                        <a:t>7. Modeling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Compute risk, cost, adequacy analytics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Python (</a:t>
                      </a:r>
                      <a:r>
                        <a:rPr lang="en-US" sz="1400" dirty="0" err="1"/>
                        <a:t>scikit</a:t>
                      </a:r>
                      <a:r>
                        <a:rPr lang="en-US" sz="1400" dirty="0"/>
                        <a:t>-learn, </a:t>
                      </a:r>
                      <a:r>
                        <a:rPr lang="en-US" sz="1400" dirty="0" err="1"/>
                        <a:t>GeoPandas</a:t>
                      </a:r>
                      <a:r>
                        <a:rPr lang="en-US" sz="1400" dirty="0"/>
                        <a:t>)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09103528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/>
                        <a:t>8. Curated Store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Central, query-ready data warehouse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Snowflake / </a:t>
                      </a:r>
                      <a:r>
                        <a:rPr lang="en-US" sz="1400" dirty="0" err="1"/>
                        <a:t>BigQuery</a:t>
                      </a:r>
                      <a:r>
                        <a:rPr lang="en-US" sz="1400" dirty="0"/>
                        <a:t> / </a:t>
                      </a:r>
                      <a:r>
                        <a:rPr lang="en-US" sz="1400" dirty="0" err="1"/>
                        <a:t>Databricks</a:t>
                      </a:r>
                      <a:endParaRPr lang="en-US" sz="1400" dirty="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4759524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/>
                        <a:t>9. API Layer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Serve processed data securely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 err="1"/>
                        <a:t>FastAPI</a:t>
                      </a:r>
                      <a:r>
                        <a:rPr lang="en-US" sz="1400" dirty="0"/>
                        <a:t>, </a:t>
                      </a:r>
                      <a:r>
                        <a:rPr lang="en-US" sz="1400" dirty="0" err="1"/>
                        <a:t>GraphQL</a:t>
                      </a:r>
                      <a:r>
                        <a:rPr lang="en-US" sz="1400" dirty="0"/>
                        <a:t>, Flask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81181687"/>
                  </a:ext>
                </a:extLst>
              </a:tr>
              <a:tr h="551579">
                <a:tc>
                  <a:txBody>
                    <a:bodyPr/>
                    <a:lstStyle/>
                    <a:p>
                      <a:r>
                        <a:rPr lang="en-US" sz="1400" b="1"/>
                        <a:t>10. Dashboards</a:t>
                      </a:r>
                      <a:endParaRPr lang="en-US" sz="1400"/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/>
                        <a:t>Visualize &amp; interact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dirty="0"/>
                        <a:t>React.js, Tailwind, </a:t>
                      </a:r>
                      <a:r>
                        <a:rPr lang="en-US" sz="1400" dirty="0" err="1"/>
                        <a:t>Plotly</a:t>
                      </a:r>
                      <a:r>
                        <a:rPr lang="en-US" sz="1400" dirty="0"/>
                        <a:t>, Power BI</a:t>
                      </a:r>
                    </a:p>
                  </a:txBody>
                  <a:tcPr marL="70183" marR="70183" marT="35091" marB="350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9344025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81482" y="490645"/>
            <a:ext cx="1394234" cy="369332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Framework</a:t>
            </a:r>
            <a:endParaRPr lang="en-US" b="1" dirty="0">
              <a:solidFill>
                <a:schemeClr val="bg1"/>
              </a:solidFill>
            </a:endParaRPr>
          </a:p>
        </p:txBody>
      </p:sp>
      <p:grpSp>
        <p:nvGrpSpPr>
          <p:cNvPr id="23" name="Group 22"/>
          <p:cNvGrpSpPr/>
          <p:nvPr/>
        </p:nvGrpSpPr>
        <p:grpSpPr>
          <a:xfrm>
            <a:off x="81482" y="859951"/>
            <a:ext cx="5163308" cy="2929440"/>
            <a:chOff x="47370" y="813996"/>
            <a:chExt cx="5163308" cy="2929440"/>
          </a:xfrm>
        </p:grpSpPr>
        <p:sp>
          <p:nvSpPr>
            <p:cNvPr id="5" name="Rounded Rectangle 4"/>
            <p:cNvSpPr/>
            <p:nvPr/>
          </p:nvSpPr>
          <p:spPr>
            <a:xfrm>
              <a:off x="47370" y="927999"/>
              <a:ext cx="1394234" cy="692814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smtClean="0"/>
                <a:t>Data source - </a:t>
              </a:r>
              <a:r>
                <a:rPr lang="en-US" sz="1200" dirty="0" err="1" smtClean="0"/>
                <a:t>TiC</a:t>
              </a:r>
              <a:r>
                <a:rPr lang="en-US" sz="1200" dirty="0" smtClean="0"/>
                <a:t>, MRF &amp; other directories</a:t>
              </a:r>
              <a:endParaRPr lang="en-US" sz="1200" dirty="0"/>
            </a:p>
          </p:txBody>
        </p:sp>
        <p:sp>
          <p:nvSpPr>
            <p:cNvPr id="6" name="Rounded Rectangle 5"/>
            <p:cNvSpPr/>
            <p:nvPr/>
          </p:nvSpPr>
          <p:spPr>
            <a:xfrm>
              <a:off x="1751904" y="877707"/>
              <a:ext cx="1514396" cy="69701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/>
                <a:t>Ingestion</a:t>
              </a:r>
              <a:r>
                <a:rPr lang="en-US" sz="1200" dirty="0"/>
                <a:t> - Auto-fetch &amp; validate files </a:t>
              </a:r>
            </a:p>
          </p:txBody>
        </p:sp>
        <p:sp>
          <p:nvSpPr>
            <p:cNvPr id="7" name="Right Arrow 6"/>
            <p:cNvSpPr/>
            <p:nvPr/>
          </p:nvSpPr>
          <p:spPr>
            <a:xfrm>
              <a:off x="1450638" y="1148175"/>
              <a:ext cx="318802" cy="156081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3685536" y="813996"/>
              <a:ext cx="1340269" cy="69701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 smtClean="0"/>
                <a:t>Parsing</a:t>
              </a:r>
              <a:r>
                <a:rPr lang="en-US" sz="1200" dirty="0" smtClean="0"/>
                <a:t> - Flatten JSON/CSV</a:t>
              </a:r>
              <a:endParaRPr lang="en-US" sz="1200" dirty="0"/>
            </a:p>
          </p:txBody>
        </p:sp>
        <p:sp>
          <p:nvSpPr>
            <p:cNvPr id="10" name="Right Arrow 9"/>
            <p:cNvSpPr/>
            <p:nvPr/>
          </p:nvSpPr>
          <p:spPr>
            <a:xfrm>
              <a:off x="3273172" y="1086313"/>
              <a:ext cx="405492" cy="175252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ounded Rectangle 10"/>
            <p:cNvSpPr/>
            <p:nvPr/>
          </p:nvSpPr>
          <p:spPr>
            <a:xfrm>
              <a:off x="3786407" y="1985449"/>
              <a:ext cx="1424271" cy="69701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/>
                <a:t>Cleaning - </a:t>
              </a:r>
              <a:r>
                <a:rPr lang="en-US" sz="1200" dirty="0"/>
                <a:t>Remove errors, outliers 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55054" y="1976842"/>
              <a:ext cx="1449725" cy="760971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/>
                <a:t>Normalization - </a:t>
              </a:r>
              <a:r>
                <a:rPr lang="en-US" sz="1200" dirty="0"/>
                <a:t>Standardize codes, </a:t>
              </a:r>
              <a:r>
                <a:rPr lang="en-US" sz="1200" dirty="0" smtClean="0"/>
                <a:t>POS</a:t>
              </a:r>
              <a:endParaRPr lang="en-US" sz="1200" dirty="0"/>
            </a:p>
          </p:txBody>
        </p:sp>
        <p:sp>
          <p:nvSpPr>
            <p:cNvPr id="13" name="Rounded Rectangle 12"/>
            <p:cNvSpPr/>
            <p:nvPr/>
          </p:nvSpPr>
          <p:spPr>
            <a:xfrm>
              <a:off x="1828354" y="1971216"/>
              <a:ext cx="1620803" cy="69701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/>
                <a:t>Identity Graph - </a:t>
              </a:r>
              <a:r>
                <a:rPr lang="en-US" sz="1200" dirty="0"/>
                <a:t>Link </a:t>
              </a:r>
              <a:r>
                <a:rPr lang="en-US" sz="1200" dirty="0" smtClean="0"/>
                <a:t>NPI-TIN-Location for unique IDs</a:t>
              </a:r>
              <a:endParaRPr lang="en-US" sz="1200" dirty="0"/>
            </a:p>
          </p:txBody>
        </p:sp>
        <p:sp>
          <p:nvSpPr>
            <p:cNvPr id="14" name="Down Arrow 13"/>
            <p:cNvSpPr/>
            <p:nvPr/>
          </p:nvSpPr>
          <p:spPr>
            <a:xfrm>
              <a:off x="4148138" y="1525608"/>
              <a:ext cx="137955" cy="459841"/>
            </a:xfrm>
            <a:prstGeom prst="down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ight Arrow 14"/>
            <p:cNvSpPr/>
            <p:nvPr/>
          </p:nvSpPr>
          <p:spPr>
            <a:xfrm rot="10800000">
              <a:off x="3449156" y="2244095"/>
              <a:ext cx="337250" cy="14617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Rounded Rectangle 15"/>
            <p:cNvSpPr/>
            <p:nvPr/>
          </p:nvSpPr>
          <p:spPr>
            <a:xfrm>
              <a:off x="2036140" y="3046421"/>
              <a:ext cx="1352351" cy="69701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/>
                <a:t>Curated Data Store </a:t>
              </a:r>
              <a:r>
                <a:rPr lang="en-US" sz="1200" dirty="0"/>
                <a:t>- Clean, query-ready DB</a:t>
              </a:r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91453" y="3025734"/>
              <a:ext cx="1505214" cy="69701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/>
                <a:t>Analytics &amp; Modeling  </a:t>
              </a:r>
              <a:r>
                <a:rPr lang="en-US" sz="1200" dirty="0"/>
                <a:t>- Risk, cost, </a:t>
              </a:r>
              <a:r>
                <a:rPr lang="en-US" sz="1200" dirty="0" smtClean="0"/>
                <a:t>adequacy</a:t>
              </a:r>
              <a:endParaRPr lang="en-US" sz="1200" dirty="0"/>
            </a:p>
          </p:txBody>
        </p:sp>
        <p:sp>
          <p:nvSpPr>
            <p:cNvPr id="18" name="Right Arrow 17"/>
            <p:cNvSpPr/>
            <p:nvPr/>
          </p:nvSpPr>
          <p:spPr>
            <a:xfrm rot="10800000">
              <a:off x="1507298" y="2211151"/>
              <a:ext cx="321056" cy="136430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Rounded Rectangle 19"/>
            <p:cNvSpPr/>
            <p:nvPr/>
          </p:nvSpPr>
          <p:spPr>
            <a:xfrm>
              <a:off x="3827964" y="3046421"/>
              <a:ext cx="1333095" cy="697015"/>
            </a:xfrm>
            <a:prstGeom prst="roundRect">
              <a:avLst/>
            </a:prstGeom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r>
                <a:rPr lang="en-US" sz="1200" b="1" dirty="0"/>
                <a:t>API Layer - </a:t>
              </a:r>
              <a:r>
                <a:rPr lang="en-US" sz="1200" dirty="0"/>
                <a:t>role-based </a:t>
              </a:r>
              <a:r>
                <a:rPr lang="en-US" sz="1200" dirty="0" smtClean="0"/>
                <a:t>security </a:t>
              </a:r>
              <a:r>
                <a:rPr lang="en-US" sz="1200" dirty="0" smtClean="0">
                  <a:sym typeface="Wingdings" panose="05000000000000000000" pitchFamily="2" charset="2"/>
                </a:rPr>
                <a:t> </a:t>
              </a:r>
              <a:r>
                <a:rPr lang="en-US" sz="1200" b="1" u="sng" dirty="0" smtClean="0">
                  <a:sym typeface="Wingdings" panose="05000000000000000000" pitchFamily="2" charset="2"/>
                </a:rPr>
                <a:t>Dashboard</a:t>
              </a:r>
              <a:r>
                <a:rPr lang="en-US" sz="1200" dirty="0" smtClean="0"/>
                <a:t> </a:t>
              </a:r>
              <a:endParaRPr lang="en-US" sz="1200" dirty="0"/>
            </a:p>
          </p:txBody>
        </p:sp>
        <p:sp>
          <p:nvSpPr>
            <p:cNvPr id="21" name="Right Arrow 20"/>
            <p:cNvSpPr/>
            <p:nvPr/>
          </p:nvSpPr>
          <p:spPr>
            <a:xfrm>
              <a:off x="1591238" y="3297682"/>
              <a:ext cx="424779" cy="137044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Right Arrow 21"/>
            <p:cNvSpPr/>
            <p:nvPr/>
          </p:nvSpPr>
          <p:spPr>
            <a:xfrm>
              <a:off x="3389517" y="3297682"/>
              <a:ext cx="438447" cy="117866"/>
            </a:xfrm>
            <a:prstGeom prst="right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5828760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5506A4-00D5-4B8B-2110-2E26BECBB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8BB6ADA-0DA7-9568-35C4-CBE65759F014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172593976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9BDE13-2D4B-477F-E550-442BE86571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610B21-6AB3-2343-D4AE-56D0A7EFA1B1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512174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F7B013-01FB-C38B-5AFF-EF530EC06B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8D460E6D-75B2-89B2-70A0-569C3CC9356D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29860276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8777A7-589D-3174-2002-A4B0E78412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655CC2D-2CC4-1AF1-79BE-2B2D5758172F}"/>
              </a:ext>
            </a:extLst>
          </p:cNvPr>
          <p:cNvSpPr txBox="1"/>
          <p:nvPr/>
        </p:nvSpPr>
        <p:spPr>
          <a:xfrm>
            <a:off x="0" y="0"/>
            <a:ext cx="12192000" cy="400110"/>
          </a:xfrm>
          <a:prstGeom prst="rect">
            <a:avLst/>
          </a:prstGeom>
          <a:solidFill>
            <a:srgbClr val="00B0F0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IN" sz="2000" b="1" dirty="0">
                <a:solidFill>
                  <a:schemeClr val="bg1"/>
                </a:solidFill>
              </a:rPr>
              <a:t>Problem Statement</a:t>
            </a:r>
          </a:p>
        </p:txBody>
      </p:sp>
    </p:spTree>
    <p:extLst>
      <p:ext uri="{BB962C8B-B14F-4D97-AF65-F5344CB8AC3E}">
        <p14:creationId xmlns:p14="http://schemas.microsoft.com/office/powerpoint/2010/main" val="31779076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456484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724</TotalTime>
  <Words>703</Words>
  <Application>Microsoft Office PowerPoint</Application>
  <PresentationFormat>Widescreen</PresentationFormat>
  <Paragraphs>110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Wingdings</vt:lpstr>
      <vt:lpstr>Office Theme</vt:lpstr>
      <vt:lpstr>HiLabsTM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HiLabsTM</dc:title>
  <dc:creator>nikhil nikhil</dc:creator>
  <cp:lastModifiedBy>User</cp:lastModifiedBy>
  <cp:revision>18</cp:revision>
  <dcterms:created xsi:type="dcterms:W3CDTF">2025-11-06T11:36:53Z</dcterms:created>
  <dcterms:modified xsi:type="dcterms:W3CDTF">2025-11-07T14:00:48Z</dcterms:modified>
</cp:coreProperties>
</file>